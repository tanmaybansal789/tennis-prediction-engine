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>
        <p:scale>
          <a:sx n="125" d="100"/>
          <a:sy n="125" d="100"/>
        </p:scale>
        <p:origin x="-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0767-DFA3-1E38-1CB0-16D412C92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4CD8A-6AFF-CED4-A424-B6EF3B13E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F9A0-4879-355A-C7BE-791CE5F8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AAFE7-80FB-9004-D380-B8EE0708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FDD65-DBB0-D415-3D44-B597FF75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6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3FD5-FB17-510A-9F60-6EFFC7AA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06CF8-605C-9B4C-98E6-AC4D85DF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E6ABE-E297-8B1A-8A64-08D1D739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8B898-EF3E-11C3-9943-AEB85B79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C3271-7D2D-589C-6B35-1BAE9213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A38F-886D-F865-10A0-27ADB53D3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3B977-B743-9000-D4EA-67EFE0F78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6AC02-F408-F1F6-5CAE-FB5D1D3F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4A25E-9A59-3894-C964-188AE247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93AB9-DB5D-F09A-9792-C08A7016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3BB0-4593-8E02-7359-7C70B48E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F9DB-5F14-5026-D5F8-4EDC3B997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C61C-97A7-139A-A464-E94045B45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B9A41-FED8-61A5-E5F0-F9B11DF1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2BB1B-EC33-A252-C7C4-A854211D1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2F92E-E237-F90D-3068-80FAE04C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1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E497-45A5-2083-4020-2729BA6F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F197E-46CE-A001-B5E7-78326331A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9E8F0-984C-AB70-A918-378CD7B01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C9322-5A51-27CC-734D-8131A02D5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11A09-8C55-615B-CBC2-E690D32AE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3202B-E871-6D58-A61C-A461B49D7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275C9-B8FE-440E-7DB7-D1A2EBF0E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EF061-E799-A537-861D-E64A18A9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5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D806-2593-DB0D-78A0-48D7C731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61737-E9E9-A074-D233-95F7BA3F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27E6E-3004-43A9-988B-34B51A71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F9387-86F9-DC5C-1201-85DEBE45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8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85994-3D0B-FCBE-B199-1946EC788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9C9AA-AEF2-0175-3DBD-45D1E4A3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DE65-D71C-4FC7-8DF2-34A111C4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9AEF-83D7-CB71-7493-B1732A81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E1FC-0095-77B6-A275-3B85B8A2C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9CEC3-388B-73BB-9A41-C07615E67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E9B49-412E-126B-3C93-60D57215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C4288-3DE0-8BED-E6C6-257E7F6E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47A8F7-7080-9521-474C-33251855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7884-FA73-6524-0D37-267ED736E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C4E58-5018-CCD4-0DF0-447ABF7B67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4408A-C2F9-918E-FADD-74BDAA9D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38484-62CB-3D02-0A2E-295A5668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7A560-3DEA-A06D-4BFC-4370F39C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7039-B938-5CF9-BBD0-5CE04EEF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A67E-5B1F-6234-74C2-289F5DE8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A3EC2-E76A-BBD7-BDD2-A5BC2F1E8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40374-DF78-CA68-28CA-4713F33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B8D5-E021-2DF9-FB88-28660B4D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2F158-D170-9DBD-B4F8-0CDF73FCD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97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5F50D5-0A9A-8E35-C7DF-22A943B42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3EE04-E92D-F6E2-EB8C-471A81407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50202-E8BD-C5CF-E451-48DD099D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EA723-D14D-24A4-43C3-57C1940F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184E5-B5F2-D2C3-D35F-4130AA75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9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7237-5996-6A20-AB5F-791FAE7B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80150-0C38-F9D1-0718-1FE8723FF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4C281-E3D6-DCEF-7671-441A0C70C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8C90C-654A-334D-96DF-440D8E19D242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BBA13-9980-44D1-FFBF-0A1873775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87856-512B-8FC1-2465-33F66281F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F4CBE-029D-9F4B-9150-E43224C10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2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hyperlink" Target="https://github.com/glad94/infotennis" TargetMode="External"/><Relationship Id="rId7" Type="http://schemas.openxmlformats.org/officeDocument/2006/relationships/hyperlink" Target="https://github.com/JeffSackmann/tennis_atp" TargetMode="External"/><Relationship Id="rId2" Type="http://schemas.openxmlformats.org/officeDocument/2006/relationships/hyperlink" Target="https://www.atptour.com/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tkinter.html" TargetMode="External"/><Relationship Id="rId5" Type="http://schemas.openxmlformats.org/officeDocument/2006/relationships/hyperlink" Target="https://numpy.org/" TargetMode="External"/><Relationship Id="rId4" Type="http://schemas.openxmlformats.org/officeDocument/2006/relationships/hyperlink" Target="https://pandas.pydata.org/" TargetMode="External"/><Relationship Id="rId9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BC6A-0D51-2C58-B5A3-AA3BDBF3D6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Tennis Prediction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049F2-77B7-2695-E103-24827D81B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83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25662-FAB8-1ACF-7B11-9D21A642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51F94-0384-BE2B-09CC-0D2232786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1690688"/>
            <a:ext cx="7604760" cy="4667250"/>
          </a:xfrm>
        </p:spPr>
        <p:txBody>
          <a:bodyPr>
            <a:normAutofit lnSpcReduction="10000"/>
          </a:bodyPr>
          <a:lstStyle/>
          <a:p>
            <a:r>
              <a:rPr lang="en-US" sz="1200" dirty="0"/>
              <a:t>Problem: </a:t>
            </a:r>
          </a:p>
          <a:p>
            <a:pPr lvl="1"/>
            <a:r>
              <a:rPr lang="en-US" sz="1100" dirty="0"/>
              <a:t>Manually compiling data from matches to make accurate predictions can be time-consuming and inconsistent.</a:t>
            </a:r>
          </a:p>
          <a:p>
            <a:pPr lvl="1"/>
            <a:r>
              <a:rPr lang="en-US" sz="1100" dirty="0"/>
              <a:t>Simple regression models often fail to capture non-linearity in data.</a:t>
            </a:r>
          </a:p>
          <a:p>
            <a:pPr marL="457200" lvl="1" indent="0">
              <a:buNone/>
            </a:pPr>
            <a:endParaRPr lang="en-US" sz="1100" dirty="0"/>
          </a:p>
          <a:p>
            <a:r>
              <a:rPr lang="en-US" sz="1200" dirty="0"/>
              <a:t>Solution:</a:t>
            </a:r>
          </a:p>
          <a:p>
            <a:pPr lvl="1"/>
            <a:r>
              <a:rPr lang="en-US" sz="1100" dirty="0"/>
              <a:t>Build a </a:t>
            </a:r>
            <a:r>
              <a:rPr lang="en-US" sz="1100" b="1" dirty="0"/>
              <a:t>user-friendly desktop app </a:t>
            </a:r>
            <a:r>
              <a:rPr lang="en-US" sz="1100" dirty="0"/>
              <a:t>that can </a:t>
            </a:r>
            <a:r>
              <a:rPr lang="en-US" sz="1100" b="1" dirty="0"/>
              <a:t>scrape match data </a:t>
            </a:r>
            <a:r>
              <a:rPr lang="en-US" sz="1100" dirty="0"/>
              <a:t>from the official ATP Tour website for updated information (</a:t>
            </a:r>
            <a:r>
              <a:rPr lang="en-US" sz="1100" dirty="0">
                <a:hlinkClick r:id="rId2"/>
              </a:rPr>
              <a:t>https://www.atptour.com/en</a:t>
            </a:r>
            <a:r>
              <a:rPr lang="en-US" sz="1100" dirty="0"/>
              <a:t>) and make basic </a:t>
            </a:r>
            <a:r>
              <a:rPr lang="en-US" sz="1100" b="1" dirty="0"/>
              <a:t>predictions</a:t>
            </a:r>
            <a:r>
              <a:rPr lang="en-US" sz="1100" dirty="0"/>
              <a:t>.</a:t>
            </a:r>
          </a:p>
          <a:p>
            <a:pPr lvl="1"/>
            <a:r>
              <a:rPr lang="en-US" sz="1100" dirty="0"/>
              <a:t>Data from historical records will have to undergo </a:t>
            </a:r>
            <a:r>
              <a:rPr lang="en-US" sz="1100" b="1" dirty="0"/>
              <a:t>preprocessing </a:t>
            </a:r>
            <a:r>
              <a:rPr lang="en-US" sz="1100" dirty="0"/>
              <a:t>in order to clean missing values, perform </a:t>
            </a:r>
            <a:r>
              <a:rPr lang="en-US" sz="1100" b="1" dirty="0"/>
              <a:t>feature engineering</a:t>
            </a:r>
            <a:r>
              <a:rPr lang="en-US" sz="1100" dirty="0"/>
              <a:t>, and split for </a:t>
            </a:r>
            <a:r>
              <a:rPr lang="en-US" sz="1100" b="1" dirty="0"/>
              <a:t>training/validation</a:t>
            </a:r>
            <a:r>
              <a:rPr lang="en-US" sz="1100" dirty="0"/>
              <a:t>.</a:t>
            </a:r>
          </a:p>
          <a:p>
            <a:pPr lvl="1"/>
            <a:r>
              <a:rPr lang="en-US" sz="1100" dirty="0"/>
              <a:t>It will use a custom-built </a:t>
            </a:r>
            <a:r>
              <a:rPr lang="en-US" sz="1100" b="1" dirty="0"/>
              <a:t>Random Forest </a:t>
            </a:r>
            <a:r>
              <a:rPr lang="en-US" sz="1100" dirty="0"/>
              <a:t>algorithm, as it handles tabular data with </a:t>
            </a:r>
            <a:r>
              <a:rPr lang="en-US" sz="1100" b="1" dirty="0"/>
              <a:t>mixed categorical/numerical </a:t>
            </a:r>
            <a:r>
              <a:rPr lang="en-US" sz="1100" dirty="0"/>
              <a:t>features (e.g. match results/player stats), and is </a:t>
            </a:r>
            <a:r>
              <a:rPr lang="en-US" sz="1100" b="1" dirty="0"/>
              <a:t>robust </a:t>
            </a:r>
            <a:r>
              <a:rPr lang="en-US" sz="1100" dirty="0"/>
              <a:t>without requiring significant compute. </a:t>
            </a:r>
          </a:p>
          <a:p>
            <a:pPr lvl="1"/>
            <a:r>
              <a:rPr lang="en-US" sz="1100" dirty="0"/>
              <a:t>For data scraping, the </a:t>
            </a:r>
            <a:r>
              <a:rPr lang="en-US" sz="1100" dirty="0">
                <a:hlinkClick r:id="rId3"/>
              </a:rPr>
              <a:t>infotennis</a:t>
            </a:r>
            <a:r>
              <a:rPr lang="en-US" sz="1100" dirty="0"/>
              <a:t> module can be used.</a:t>
            </a:r>
          </a:p>
          <a:p>
            <a:pPr lvl="1"/>
            <a:r>
              <a:rPr lang="en-US" sz="1100" dirty="0"/>
              <a:t>Data preprocessing and the main model architecture can be implemented in </a:t>
            </a:r>
            <a:r>
              <a:rPr lang="en-US" sz="1100" dirty="0">
                <a:hlinkClick r:id="rId4"/>
              </a:rPr>
              <a:t>Pandas </a:t>
            </a:r>
            <a:r>
              <a:rPr lang="en-US" sz="1100" dirty="0"/>
              <a:t> and </a:t>
            </a:r>
            <a:r>
              <a:rPr lang="en-US" sz="1100" dirty="0">
                <a:hlinkClick r:id="rId5"/>
              </a:rPr>
              <a:t>NumPy</a:t>
            </a:r>
            <a:r>
              <a:rPr lang="en-US" sz="1100" dirty="0"/>
              <a:t> respectively.</a:t>
            </a:r>
          </a:p>
          <a:p>
            <a:pPr lvl="1"/>
            <a:r>
              <a:rPr lang="en-US" sz="1100" dirty="0"/>
              <a:t>For the frontend, a simple framework e.g. </a:t>
            </a:r>
            <a:r>
              <a:rPr lang="en-US" sz="1100" dirty="0">
                <a:hlinkClick r:id="rId6"/>
              </a:rPr>
              <a:t>Tkinter </a:t>
            </a:r>
            <a:r>
              <a:rPr lang="en-US" sz="1100" dirty="0"/>
              <a:t>can be used as the UI will remain static and does not need to be reactive</a:t>
            </a:r>
          </a:p>
          <a:p>
            <a:pPr lvl="1"/>
            <a:r>
              <a:rPr lang="en-US" sz="1100" dirty="0"/>
              <a:t>Historical records, such as those maintained by </a:t>
            </a:r>
            <a:r>
              <a:rPr lang="en-US" sz="1100" dirty="0">
                <a:hlinkClick r:id="rId7"/>
              </a:rPr>
              <a:t>Jeff Sackmann</a:t>
            </a:r>
            <a:r>
              <a:rPr lang="en-US" sz="1100" dirty="0"/>
              <a:t> can be loaded into a database for </a:t>
            </a:r>
            <a:r>
              <a:rPr lang="en-US" sz="1100" b="1" dirty="0"/>
              <a:t>easier querying during inference</a:t>
            </a:r>
            <a:r>
              <a:rPr lang="en-US" sz="1100" dirty="0"/>
              <a:t>. Given the relatively </a:t>
            </a:r>
            <a:r>
              <a:rPr lang="en-US" sz="1100" b="1" dirty="0"/>
              <a:t>simple and tabular </a:t>
            </a:r>
            <a:r>
              <a:rPr lang="en-US" sz="1100" dirty="0"/>
              <a:t>nature of the data (only ~3 interlinked tables), an SQLite database should be sufficient, handling the moderately large record counts. Then, updating the database becomes a matter of converting the raw scraped output to the </a:t>
            </a:r>
            <a:r>
              <a:rPr lang="en-US" sz="1100" b="1" dirty="0"/>
              <a:t>exact entity structure </a:t>
            </a:r>
            <a:r>
              <a:rPr lang="en-US" sz="1100" dirty="0"/>
              <a:t>used in the database.</a:t>
            </a:r>
          </a:p>
          <a:p>
            <a:r>
              <a:rPr lang="en-US" sz="1200" dirty="0"/>
              <a:t>Considerations:</a:t>
            </a:r>
          </a:p>
          <a:p>
            <a:pPr lvl="1"/>
            <a:r>
              <a:rPr lang="en-US" sz="1100" dirty="0"/>
              <a:t>Data leakage during training </a:t>
            </a:r>
            <a:r>
              <a:rPr lang="en-US" sz="1100" i="1" dirty="0"/>
              <a:t>must be avoided.</a:t>
            </a:r>
            <a:r>
              <a:rPr lang="en-US" sz="1100" dirty="0"/>
              <a:t> Giving the model access to statistics such as updated </a:t>
            </a:r>
            <a:r>
              <a:rPr lang="en-US" sz="1100" dirty="0" err="1"/>
              <a:t>Elos</a:t>
            </a:r>
            <a:r>
              <a:rPr lang="en-US" sz="1100" dirty="0"/>
              <a:t>, ace/double fault counts leads to much higher </a:t>
            </a:r>
            <a:r>
              <a:rPr lang="en-US" sz="1100" b="1" dirty="0"/>
              <a:t>accuracy on training data </a:t>
            </a:r>
            <a:r>
              <a:rPr lang="en-US" sz="1100" dirty="0"/>
              <a:t>but makes it essentially useless for real-world predictions.</a:t>
            </a:r>
          </a:p>
          <a:p>
            <a:pPr lvl="1"/>
            <a:r>
              <a:rPr lang="en-US" sz="1100" dirty="0"/>
              <a:t>Instead, consider </a:t>
            </a:r>
            <a:r>
              <a:rPr lang="en-US" sz="1100" b="1" dirty="0"/>
              <a:t>rolling averages</a:t>
            </a:r>
            <a:r>
              <a:rPr lang="en-US" sz="1100" dirty="0"/>
              <a:t>, e.g.</a:t>
            </a:r>
            <a:r>
              <a:rPr lang="en-US" sz="1100" i="1" dirty="0"/>
              <a:t> win% on surface _ over last 12 months, average DR over last 5 matches</a:t>
            </a:r>
            <a:endParaRPr lang="en-US" sz="1100" dirty="0"/>
          </a:p>
        </p:txBody>
      </p:sp>
      <p:pic>
        <p:nvPicPr>
          <p:cNvPr id="1026" name="Picture 2" descr="random forest algorithm color icon vector illustration 39202122 Vector Art  at Vecteezy">
            <a:extLst>
              <a:ext uri="{FF2B5EF4-FFF2-40B4-BE49-F238E27FC236}">
                <a16:creationId xmlns:a16="http://schemas.microsoft.com/office/drawing/2014/main" id="{1722A56B-E56E-62FB-BE59-4317C3937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075" y="3429000"/>
            <a:ext cx="3362864" cy="336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Analyze A Tennis Match">
            <a:extLst>
              <a:ext uri="{FF2B5EF4-FFF2-40B4-BE49-F238E27FC236}">
                <a16:creationId xmlns:a16="http://schemas.microsoft.com/office/drawing/2014/main" id="{A54E71BB-FAC1-4BDD-9884-4A310A111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075" y="365125"/>
            <a:ext cx="3268979" cy="318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59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336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Tennis Prediction Engine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Bansal</dc:creator>
  <cp:lastModifiedBy>Tanmay Bansal</cp:lastModifiedBy>
  <cp:revision>3</cp:revision>
  <dcterms:created xsi:type="dcterms:W3CDTF">2026-01-17T15:01:56Z</dcterms:created>
  <dcterms:modified xsi:type="dcterms:W3CDTF">2026-01-17T17:32:55Z</dcterms:modified>
</cp:coreProperties>
</file>